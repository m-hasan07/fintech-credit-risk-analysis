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"/>
      <p:regular r:id="rId201316"/>
    </p:embeddedFont>
    <p:embeddedFont>
      <p:font typeface="Outfit Bold"/>
      <p:regular r:id="rId201317"/>
    </p:embeddedFont>
    <p:embeddedFont>
      <p:font typeface="Outfit ExtraBold"/>
      <p:regular r:id="rId201318"/>
    </p:embeddedFont>
    <p:embeddedFont>
      <p:font typeface="Outfi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Credit Risk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portfolio evaluation — SQL extraction, Python modeling, Power BI reporting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31171"/>
            <a:ext cx="1663162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87825"/>
            <a:ext cx="20459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32,581 APPLICANTS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90977" y="4131171"/>
            <a:ext cx="188124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04381" y="4187825"/>
            <a:ext cx="22640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21.82% DEFAULT RATE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62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Portfolio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08522"/>
            <a:ext cx="533396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32,581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61475" y="2291159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Applicants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96155" y="1508522"/>
            <a:ext cx="5334065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7,108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6196155" y="2291159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Defaults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2971701"/>
            <a:ext cx="533396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21.82%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661475" y="3754338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Default Rate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96155" y="2971701"/>
            <a:ext cx="5334065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$66K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196155" y="3754338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Mean Annual Income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96155" y="4122837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Median: $55,000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4799013"/>
            <a:ext cx="533396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11.01%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661475" y="5581650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Mean Interest 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6155" y="4799013"/>
            <a:ext cx="5334065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5.8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6196155" y="5581650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Avg Credit History (yrs)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1475" y="6034484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Loan-to-income concentration, risk-grade, and homeownership are the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top default predictors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Default Rate by Loan Grade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Steep Risk Escalation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Default rates jump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~10%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(Grade A)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98%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(Grade G) — a near-vertical risk curve.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D7D2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Grades D–G account for the majority of portfolio losses despite fewer loans.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Homeownership &amp; Loan Purpose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Default Rate by Homeownership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Default Rate by Loan Intent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12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Correlation Drivers of Default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6219"/>
            <a:ext cx="5221851" cy="3758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1476177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Risk Signals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719" y="1929011"/>
            <a:ext cx="2530610" cy="21626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4190" y="2122289"/>
            <a:ext cx="206786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Loan % Income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 = 0.38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584190" y="2827238"/>
            <a:ext cx="2067865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Strongest positive driver — high debt-to-income severely threatens repayment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5960" y="1929011"/>
            <a:ext cx="2530610" cy="21626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75431" y="2122289"/>
            <a:ext cx="206786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Interest Rate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 = 0.34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9275431" y="2827238"/>
            <a:ext cx="206786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Risk-based pricing scales rates upward for distressed profiles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4719" y="4252317"/>
            <a:ext cx="2530610" cy="1894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4190" y="4445595"/>
            <a:ext cx="206786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Person Income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 = −0.14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584190" y="5150545"/>
            <a:ext cx="206786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 income reduces default probability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05960" y="4252317"/>
            <a:ext cx="2530610" cy="1894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75431" y="4445595"/>
            <a:ext cx="206786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Employment Length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E4CE6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 = −0.08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9275431" y="5150545"/>
            <a:ext cx="206786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Longer job tenure marginally reduces default likelihood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3959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Default Rate by Income Quartile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3360" y="1893888"/>
            <a:ext cx="6296860" cy="3951684"/>
          </a:xfrm>
          <a:prstGeom prst="roundRect">
            <a:avLst>
              <a:gd name="adj" fmla="val 185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39710" y="1900238"/>
            <a:ext cx="6284160" cy="984746"/>
          </a:xfrm>
          <a:custGeom>
            <a:avLst/>
            <a:gdLst/>
            <a:ahLst/>
            <a:cxnLst/>
            <a:rect l="l" t="t" r="r" b="b"/>
            <a:pathLst>
              <a:path w="6284160" h="984746">
                <a:moveTo>
                  <a:pt x="60988" y="0"/>
                </a:moveTo>
                <a:lnTo>
                  <a:pt x="6223172" y="0"/>
                </a:lnTo>
                <a:arcTo hR="60990" wR="60988" stAng="16200000" swAng="5400000"/>
                <a:lnTo>
                  <a:pt x="6284160" y="984746"/>
                </a:lnTo>
                <a:lnTo>
                  <a:pt x="0" y="984746"/>
                </a:lnTo>
                <a:lnTo>
                  <a:pt x="0" y="60990"/>
                </a:lnTo>
                <a:arcTo hR="60990" wR="60988" stAng="10800000" swAng="5400000"/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6" name="Text 3"/>
          <p:cNvSpPr/>
          <p:nvPr/>
        </p:nvSpPr>
        <p:spPr>
          <a:xfrm>
            <a:off x="5413934" y="2074466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Q1 — Lowest Income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3934" y="2442964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39.70%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default rate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9710" y="2884984"/>
            <a:ext cx="6284160" cy="984746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9" name="Shape 6"/>
          <p:cNvSpPr/>
          <p:nvPr/>
        </p:nvSpPr>
        <p:spPr>
          <a:xfrm>
            <a:off x="5239710" y="288498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10" name="Text 7"/>
          <p:cNvSpPr/>
          <p:nvPr/>
        </p:nvSpPr>
        <p:spPr>
          <a:xfrm>
            <a:off x="5413934" y="3059212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13934" y="3427710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21.32%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default rate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239710" y="3869730"/>
            <a:ext cx="6284160" cy="984746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9710" y="386973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14" name="Text 11"/>
          <p:cNvSpPr/>
          <p:nvPr/>
        </p:nvSpPr>
        <p:spPr>
          <a:xfrm>
            <a:off x="5413934" y="4043958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13934" y="4412456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17.07%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default rate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239710" y="4854476"/>
            <a:ext cx="6284160" cy="984746"/>
          </a:xfrm>
          <a:custGeom>
            <a:avLst/>
            <a:gdLst/>
            <a:ahLst/>
            <a:cxnLst/>
            <a:rect l="l" t="t" r="r" b="b"/>
            <a:pathLst>
              <a:path w="6284160" h="984746">
                <a:moveTo>
                  <a:pt x="0" y="0"/>
                </a:moveTo>
                <a:lnTo>
                  <a:pt x="6284160" y="0"/>
                </a:lnTo>
                <a:lnTo>
                  <a:pt x="6284160" y="923757"/>
                </a:lnTo>
                <a:arcTo hR="60990" wR="60988" stAng="0" swAng="5400000"/>
                <a:lnTo>
                  <a:pt x="60988" y="984746"/>
                </a:lnTo>
                <a:arcTo hR="60990" wR="609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9710" y="485447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18" name="Text 15"/>
          <p:cNvSpPr/>
          <p:nvPr/>
        </p:nvSpPr>
        <p:spPr>
          <a:xfrm>
            <a:off x="5413934" y="5028704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Q4 — Highest Income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413934" y="5397202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9.11%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default rate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233360" y="6026249"/>
            <a:ext cx="6906444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Financial capacity is a powerful risk buffer — Q1 defaults are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4× higher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than Q4.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264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Technical Architecture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92795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662294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Presentation &amp; Exec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22865" y="2048322"/>
            <a:ext cx="2650038" cy="60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dashboards, KPI cards, slicers by grade and intent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0578" y="3297238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Modeling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8521" y="3683265"/>
            <a:ext cx="2436325" cy="60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cleaning, feature engineering, Random Forest/XGBoost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241938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Core: Database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22865" y="4627966"/>
            <a:ext cx="2650038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 ingestion, outlier filtering, KPI aggregation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6162873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pipeline: </a:t>
            </a:r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SQL</a:t>
            </a:r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data extraction → </a:t>
            </a:r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Python</a:t>
            </a:r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modeling → </a:t>
            </a:r>
            <a:pPr algn="l" indent="0" marL="0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Power BI</a:t>
            </a:r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interactive dashboards.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057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Strategic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4692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9933" y="220860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31909" y="1879104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Tighten Underwriting on Renters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631909" y="2287786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31%+ default rate — require liquidity buffers or co-signers for rental applicants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96047"/>
            <a:ext cx="6296860" cy="113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9933" y="368875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631909" y="3510459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Cap Debt-to-Income Exposure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631909" y="3919141"/>
            <a:ext cx="51120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Auto-flag loans exceeding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30%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verified income (r = 0.38)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24983"/>
            <a:ext cx="6296860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933" y="51689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31909" y="4839395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Re-evaluate Grade D–G Pricing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631909" y="5248077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59–98% default rates — current rates may not offset losses; tighten credit filters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2026-08-21T22:02:09Z</dcterms:created>
  <dcterms:modified xsi:type="dcterms:W3CDTF">2026-08-21T22:02:09Z</dcterms:modified>
</cp:coreProperties>
</file>